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B73BD-D548-1C04-315F-00EB90C94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A28800-5EA1-FD9A-5C88-3FA84A31CF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94E1D-A9A6-1E06-D265-B99631D41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93D1F-1498-445D-978C-F330D453FA31}" type="datetimeFigureOut">
              <a:rPr lang="en-AE" smtClean="0"/>
              <a:t>06/02/2026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32C33-02DA-716D-15B1-51CA71322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D2443-7A5E-3AC3-C73D-ABF270B4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CB22-3F84-46A5-8F13-2347F8A463E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72020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155D1-59DD-C42B-4508-82E7A60F1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08F32-0112-2487-6EF7-DB6271969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3C44E-5DDD-3F53-82BA-63D56A28D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93D1F-1498-445D-978C-F330D453FA31}" type="datetimeFigureOut">
              <a:rPr lang="en-AE" smtClean="0"/>
              <a:t>06/02/2026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7EB37-EB46-DA1B-8304-D8DC21674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9CEE4-3C92-D3DF-9BE8-5C2675AE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CB22-3F84-46A5-8F13-2347F8A463E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11637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09DDF-9F11-7CD8-DB92-5992A2366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A8473-9FD2-ACB2-2B0C-D5FA48B6C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C0AC4-5D83-7221-83F1-CB9530C3A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93D1F-1498-445D-978C-F330D453FA31}" type="datetimeFigureOut">
              <a:rPr lang="en-AE" smtClean="0"/>
              <a:t>06/02/2026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650A3-F632-42BC-B2DE-ED50EB483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A4B41-D837-9E71-4240-EB08E29C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CB22-3F84-46A5-8F13-2347F8A463E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276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7EAFA-4BF1-E874-5446-3980233D0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BE392-06D4-2F7D-BCAE-FFFEDDA018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7ADF8-F3F1-08E9-881F-D341021F1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34E3A-0F8E-0C97-DAB0-225A6C708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93D1F-1498-445D-978C-F330D453FA31}" type="datetimeFigureOut">
              <a:rPr lang="en-AE" smtClean="0"/>
              <a:t>06/02/2026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AD0448-3EF4-1B87-0A6D-78357D33D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31A2D-7DFA-FBA6-F577-6103738A3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CB22-3F84-46A5-8F13-2347F8A463E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65819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82A87-F380-94CF-DF6D-A87B984F4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8AFAD-2CEE-BE67-C153-7A536CC11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DD867-60C3-544B-950C-B8AAF6D23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931A5D-436D-CE38-A87E-4511D65F10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FE48C6-8943-B019-7011-F022149C31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5219B5-B75A-6C5B-1C3D-18FEB40C8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93D1F-1498-445D-978C-F330D453FA31}" type="datetimeFigureOut">
              <a:rPr lang="en-AE" smtClean="0"/>
              <a:t>06/02/2026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8C40FD-892E-6692-C1DF-B88449657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BC19CC-29EC-9836-4573-6662A497A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CB22-3F84-46A5-8F13-2347F8A463E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69447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27EB3-3EE9-1E1F-6F61-5437D259F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CE0F32-5271-A3C2-2593-D437FE605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93D1F-1498-445D-978C-F330D453FA31}" type="datetimeFigureOut">
              <a:rPr lang="en-AE" smtClean="0"/>
              <a:t>06/02/2026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F9B4B-0DB5-5A63-E501-B924C8F7B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1E4EEB-9C0D-D08C-F4A5-E0D6F4B5B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CB22-3F84-46A5-8F13-2347F8A463E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96754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E5C1C4-FBD9-7E6E-364D-B45F9F5DE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93D1F-1498-445D-978C-F330D453FA31}" type="datetimeFigureOut">
              <a:rPr lang="en-AE" smtClean="0"/>
              <a:t>06/02/2026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077B13-79EE-1AA3-B0D9-76554408C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98D22-AA7A-2661-3C59-9E341B3E3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CB22-3F84-46A5-8F13-2347F8A463E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46045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399BA-89FD-8461-AE33-45D271FD5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394B3-EFFD-B88E-79C8-E90443B9D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2581B-FEDD-9A50-00B3-49A9822B0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FC2E4-54AC-69FD-5D81-91534F17F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93D1F-1498-445D-978C-F330D453FA31}" type="datetimeFigureOut">
              <a:rPr lang="en-AE" smtClean="0"/>
              <a:t>06/02/2026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3C51BA-AE0B-3435-7B04-C42EA3257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F71FF-428E-47D2-5AC1-88B09B2B3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CB22-3F84-46A5-8F13-2347F8A463E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92734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FB5C1-FC8D-56F3-94D3-AA33A8078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2FBE7A-F8B2-2599-2B94-E4FB061DD2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72C657-9472-7301-1D89-A2CBA93F1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AEDB1-E6F5-539D-A5AF-CDD87D7E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93D1F-1498-445D-978C-F330D453FA31}" type="datetimeFigureOut">
              <a:rPr lang="en-AE" smtClean="0"/>
              <a:t>06/02/2026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FD4B4-60C0-13B5-7EE4-E2BB9BCDA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3A1AF-A41B-ABBD-69BE-D1BB2DAA7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CB22-3F84-46A5-8F13-2347F8A463E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14601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EED3-730E-D89C-D2C6-2641DEA34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5957F0-BC3E-FF38-7F73-8561B7293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7EB41-6E7E-3D27-0C8B-84B3D5F57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93D1F-1498-445D-978C-F330D453FA31}" type="datetimeFigureOut">
              <a:rPr lang="en-AE" smtClean="0"/>
              <a:t>06/02/2026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53586-0186-30E6-E5A3-D2CA1E499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E83D8-DD50-3113-8EBB-F5E117704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CB22-3F84-46A5-8F13-2347F8A463E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1580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D17B96-D6DE-1DFA-7034-EF8C4B59E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EE663F-FDAA-DF1C-1714-57211A01A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A4B2E-6E07-72F8-50E5-DB03DC40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93D1F-1498-445D-978C-F330D453FA31}" type="datetimeFigureOut">
              <a:rPr lang="en-AE" smtClean="0"/>
              <a:t>06/02/2026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738D3-5BD9-4EC2-493E-06C7A29E8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47BA3-A2E8-BF02-5767-040E9ACE3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CB22-3F84-46A5-8F13-2347F8A463E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13193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00EC3-DE1E-569B-2DC9-AC4B6B96C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DC440-CE0E-5412-F343-82A6C6F05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058F1-F302-B87B-7940-04153AA44C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493D1F-1498-445D-978C-F330D453FA31}" type="datetimeFigureOut">
              <a:rPr lang="en-AE" smtClean="0"/>
              <a:t>06/02/2026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9779E-5E9A-E269-9283-7B4D54B00C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F0532-2A47-1B64-2AF7-8FAB1B689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D6CB22-3F84-46A5-8F13-2347F8A463E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58405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4CB78-2C3B-9E63-28C5-164558F42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3364992"/>
          </a:xfrm>
        </p:spPr>
        <p:txBody>
          <a:bodyPr/>
          <a:lstStyle/>
          <a:p>
            <a:r>
              <a:rPr lang="en-US" b="1" dirty="0" err="1">
                <a:solidFill>
                  <a:schemeClr val="accent1"/>
                </a:solidFill>
              </a:rPr>
              <a:t>CourseSphere</a:t>
            </a:r>
            <a:r>
              <a:rPr lang="en-US" dirty="0">
                <a:solidFill>
                  <a:schemeClr val="accent1"/>
                </a:solidFill>
              </a:rPr>
              <a:t>: Learning Management System</a:t>
            </a:r>
            <a:endParaRPr lang="en-AE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82C512-2EAA-03F4-2162-56DE54B1D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3255962"/>
          </a:xfrm>
        </p:spPr>
        <p:txBody>
          <a:bodyPr>
            <a:normAutofit/>
          </a:bodyPr>
          <a:lstStyle/>
          <a:p>
            <a:r>
              <a:rPr lang="en-US" dirty="0"/>
              <a:t>Phase I – Project Presentation</a:t>
            </a:r>
          </a:p>
          <a:p>
            <a:r>
              <a:rPr lang="en-US" dirty="0"/>
              <a:t>ISTE.240.602</a:t>
            </a:r>
          </a:p>
          <a:p>
            <a:endParaRPr lang="en-US" dirty="0"/>
          </a:p>
          <a:p>
            <a:r>
              <a:rPr lang="en-US" dirty="0"/>
              <a:t>Srivignan Saravanan</a:t>
            </a:r>
            <a:br>
              <a:rPr lang="en-US" dirty="0"/>
            </a:br>
            <a:r>
              <a:rPr lang="en-US" dirty="0"/>
              <a:t>Muhammed Safnas</a:t>
            </a:r>
            <a:br>
              <a:rPr lang="en-AE" dirty="0"/>
            </a:br>
            <a:r>
              <a:rPr lang="en-AE" dirty="0"/>
              <a:t>Yazan Ghawi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167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329AB-D63F-880A-5A5B-970739B19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1325563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What is </a:t>
            </a:r>
            <a:r>
              <a:rPr lang="en-US" b="1" dirty="0" err="1">
                <a:solidFill>
                  <a:schemeClr val="accent1"/>
                </a:solidFill>
              </a:rPr>
              <a:t>CourseSphere</a:t>
            </a:r>
            <a:r>
              <a:rPr lang="en-US" b="1" dirty="0">
                <a:solidFill>
                  <a:schemeClr val="accent1"/>
                </a:solidFill>
              </a:rPr>
              <a:t>?</a:t>
            </a:r>
            <a:endParaRPr lang="en-AE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B9C6E-6EAB-7223-EF55-AA9936F3E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96" y="1825624"/>
            <a:ext cx="5980176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A Learning Management System (LMS</a:t>
            </a:r>
            <a:r>
              <a:rPr lang="en-US" sz="2400" b="1" dirty="0">
                <a:solidFill>
                  <a:schemeClr val="accent1"/>
                </a:solidFill>
              </a:rPr>
              <a:t>)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b="1" dirty="0">
                <a:solidFill>
                  <a:schemeClr val="accent1"/>
                </a:solidFill>
              </a:rPr>
              <a:t>inspired by platforms like Coursera</a:t>
            </a:r>
          </a:p>
          <a:p>
            <a:r>
              <a:rPr lang="en-US" sz="2400" dirty="0"/>
              <a:t>Focused on free online courses</a:t>
            </a:r>
          </a:p>
          <a:p>
            <a:r>
              <a:rPr lang="en-US" sz="2400" dirty="0"/>
              <a:t>Users can browse courses, enroll, learn through lessons, complete quizzes, track progress, and earn certificates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Target Users</a:t>
            </a:r>
          </a:p>
          <a:p>
            <a:r>
              <a:rPr lang="en-US" sz="2400" dirty="0"/>
              <a:t>Students / Learners</a:t>
            </a:r>
          </a:p>
          <a:p>
            <a:r>
              <a:rPr lang="en-US" sz="2400" dirty="0"/>
              <a:t>Instructors</a:t>
            </a:r>
          </a:p>
          <a:p>
            <a:r>
              <a:rPr lang="en-US" sz="2400" dirty="0"/>
              <a:t>Administrator</a:t>
            </a:r>
          </a:p>
          <a:p>
            <a:endParaRPr lang="en-AE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EB9CE1-62D7-7434-9DEA-B6355B13C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366472"/>
            <a:ext cx="5087725" cy="266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43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BB4DB-1815-D0F3-250F-42FCC0BC4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592" y="38341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Scope &amp; Key Features</a:t>
            </a:r>
            <a:endParaRPr lang="en-AE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7B4BE-6BC3-A71F-79C9-589F9F25E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592" y="1971929"/>
            <a:ext cx="5407152" cy="40722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In Scope</a:t>
            </a:r>
          </a:p>
          <a:p>
            <a:r>
              <a:rPr lang="en-US" sz="2400" dirty="0"/>
              <a:t>Course catalog with </a:t>
            </a:r>
            <a:r>
              <a:rPr lang="en-US" sz="2400" b="1" dirty="0"/>
              <a:t>search &amp; filters</a:t>
            </a:r>
            <a:endParaRPr lang="en-US" sz="2400" dirty="0"/>
          </a:p>
          <a:p>
            <a:r>
              <a:rPr lang="en-US" sz="2400" dirty="0"/>
              <a:t>Course enrollment and access</a:t>
            </a:r>
          </a:p>
          <a:p>
            <a:r>
              <a:rPr lang="en-US" sz="2400" dirty="0"/>
              <a:t>Lessons with </a:t>
            </a:r>
            <a:r>
              <a:rPr lang="en-US" sz="2400" b="1" dirty="0"/>
              <a:t>text, video, and audio</a:t>
            </a:r>
            <a:endParaRPr lang="en-US" sz="2400" dirty="0"/>
          </a:p>
          <a:p>
            <a:r>
              <a:rPr lang="en-US" sz="2400" dirty="0"/>
              <a:t>Quizzes and progress tracking</a:t>
            </a:r>
          </a:p>
          <a:p>
            <a:r>
              <a:rPr lang="en-US" sz="2400" dirty="0"/>
              <a:t>Course completion certificates</a:t>
            </a:r>
          </a:p>
          <a:p>
            <a:r>
              <a:rPr lang="en-US" sz="2400" dirty="0"/>
              <a:t>Instructor &amp; admin dashboards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E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D737F2-81A9-D230-77C0-74BEA3D464F5}"/>
              </a:ext>
            </a:extLst>
          </p:cNvPr>
          <p:cNvCxnSpPr>
            <a:cxnSpLocks/>
          </p:cNvCxnSpPr>
          <p:nvPr/>
        </p:nvCxnSpPr>
        <p:spPr>
          <a:xfrm>
            <a:off x="5952744" y="1708976"/>
            <a:ext cx="0" cy="433520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A2A3B72-1C91-385B-0413-A3F87D890CE6}"/>
              </a:ext>
            </a:extLst>
          </p:cNvPr>
          <p:cNvSpPr txBox="1"/>
          <p:nvPr/>
        </p:nvSpPr>
        <p:spPr>
          <a:xfrm>
            <a:off x="6239257" y="2613392"/>
            <a:ext cx="60944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Out of Scope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Paid subscriptions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Live video streaming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Advanced proctored exams</a:t>
            </a:r>
          </a:p>
        </p:txBody>
      </p:sp>
    </p:spTree>
    <p:extLst>
      <p:ext uri="{BB962C8B-B14F-4D97-AF65-F5344CB8AC3E}">
        <p14:creationId xmlns:p14="http://schemas.microsoft.com/office/powerpoint/2010/main" val="1800114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66F7E-34C7-73F8-207E-72883A8AE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User Interaction Scenarios</a:t>
            </a:r>
            <a:endParaRPr lang="en-AE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BD43C-ACBE-9BF0-1B76-39F961548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1935353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Student</a:t>
            </a:r>
          </a:p>
          <a:p>
            <a:r>
              <a:rPr lang="en-US" sz="2600" dirty="0"/>
              <a:t>Registers → enrolls in a course</a:t>
            </a:r>
          </a:p>
          <a:p>
            <a:r>
              <a:rPr lang="en-US" sz="2600" dirty="0"/>
              <a:t>Studies lessons → completes quizzes</a:t>
            </a:r>
          </a:p>
          <a:p>
            <a:r>
              <a:rPr lang="en-US" sz="2600" dirty="0"/>
              <a:t>Tracks progress → earns certificate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Instructor</a:t>
            </a:r>
          </a:p>
          <a:p>
            <a:r>
              <a:rPr lang="en-US" sz="2600" dirty="0"/>
              <a:t>Creates and manages courses</a:t>
            </a:r>
          </a:p>
          <a:p>
            <a:r>
              <a:rPr lang="en-US" sz="2600" dirty="0"/>
              <a:t>Uploads lessons and quizzes</a:t>
            </a:r>
          </a:p>
          <a:p>
            <a:r>
              <a:rPr lang="en-US" sz="2600" dirty="0"/>
              <a:t>Views enrollments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Admin</a:t>
            </a:r>
          </a:p>
          <a:p>
            <a:r>
              <a:rPr lang="en-US" sz="2600" dirty="0"/>
              <a:t>Manages users and roles</a:t>
            </a:r>
          </a:p>
          <a:p>
            <a:r>
              <a:rPr lang="en-US" sz="2600" dirty="0"/>
              <a:t>Approves courses</a:t>
            </a:r>
          </a:p>
          <a:p>
            <a:r>
              <a:rPr lang="en-US" sz="2600" dirty="0"/>
              <a:t>Oversees platform content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893445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3B111-819C-BB03-DE21-88E6989E8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Technical Implementation </a:t>
            </a:r>
            <a:endParaRPr lang="en-AE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3E145-AC0A-B1F6-7642-66B98EF0F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Technologies Used</a:t>
            </a:r>
          </a:p>
          <a:p>
            <a:r>
              <a:rPr lang="en-US" sz="2200" b="1" dirty="0"/>
              <a:t>Backend:</a:t>
            </a:r>
            <a:r>
              <a:rPr lang="en-US" sz="2200" dirty="0"/>
              <a:t> Spring Boot (MVC)</a:t>
            </a:r>
          </a:p>
          <a:p>
            <a:r>
              <a:rPr lang="en-US" sz="2200" b="1" dirty="0"/>
              <a:t>Database:</a:t>
            </a:r>
            <a:r>
              <a:rPr lang="en-US" sz="2200" dirty="0"/>
              <a:t> MySQL</a:t>
            </a:r>
          </a:p>
          <a:p>
            <a:r>
              <a:rPr lang="en-US" sz="2200" b="1" dirty="0"/>
              <a:t>Frontend:</a:t>
            </a:r>
            <a:r>
              <a:rPr lang="en-US" sz="2200" dirty="0"/>
              <a:t> HTML, CSS, JavaScript</a:t>
            </a:r>
          </a:p>
          <a:p>
            <a:r>
              <a:rPr lang="en-US" sz="2200" b="1" dirty="0"/>
              <a:t>UI Framework:</a:t>
            </a:r>
            <a:r>
              <a:rPr lang="en-US" sz="2200" dirty="0"/>
              <a:t> Bootstrap or Tailwind</a:t>
            </a:r>
          </a:p>
          <a:p>
            <a:r>
              <a:rPr lang="en-US" sz="2200" b="1" dirty="0"/>
              <a:t>Authentication:</a:t>
            </a:r>
            <a:r>
              <a:rPr lang="en-US" sz="2200" dirty="0"/>
              <a:t> Session-based login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Architecture</a:t>
            </a:r>
          </a:p>
          <a:p>
            <a:r>
              <a:rPr lang="en-US" sz="2400" dirty="0"/>
              <a:t>MVC structure</a:t>
            </a:r>
          </a:p>
          <a:p>
            <a:r>
              <a:rPr lang="en-US" sz="2400" dirty="0"/>
              <a:t>Persistent database with JPA</a:t>
            </a:r>
          </a:p>
          <a:p>
            <a:r>
              <a:rPr lang="en-US" sz="2400" dirty="0"/>
              <a:t>Server-rendered pages with dynamic data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390344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E5F11-0807-26A0-52C6-1954EDBC8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19989"/>
            <a:ext cx="5023104" cy="1325563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UX/UI &amp; Challenges</a:t>
            </a:r>
            <a:endParaRPr lang="en-AE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C9595-F573-9A0A-EDCA-3078E181D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24" y="1917065"/>
            <a:ext cx="6211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UX/UI Decisions</a:t>
            </a:r>
          </a:p>
          <a:p>
            <a:r>
              <a:rPr lang="en-US" sz="2400" dirty="0"/>
              <a:t>Sidebar navigation for courses</a:t>
            </a:r>
          </a:p>
          <a:p>
            <a:r>
              <a:rPr lang="en-US" sz="2400" dirty="0"/>
              <a:t>Course cards for browsing</a:t>
            </a:r>
          </a:p>
          <a:p>
            <a:r>
              <a:rPr lang="en-US" sz="2400" dirty="0"/>
              <a:t>Responsive layout</a:t>
            </a:r>
          </a:p>
          <a:p>
            <a:r>
              <a:rPr lang="en-US" sz="2400" dirty="0"/>
              <a:t>Separate dashboards per role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Challenges &amp; Mitigation</a:t>
            </a:r>
          </a:p>
          <a:p>
            <a:r>
              <a:rPr lang="en-US" sz="2400" dirty="0"/>
              <a:t>Complex database → early schema design</a:t>
            </a:r>
          </a:p>
          <a:p>
            <a:r>
              <a:rPr lang="en-US" sz="2400" dirty="0"/>
              <a:t>Role management → controller-level checks</a:t>
            </a:r>
          </a:p>
          <a:p>
            <a:r>
              <a:rPr lang="en-US" sz="2400" dirty="0"/>
              <a:t>Quiz logic → start simple, extend later</a:t>
            </a:r>
          </a:p>
          <a:p>
            <a:pPr marL="0" indent="0">
              <a:buNone/>
            </a:pPr>
            <a:endParaRPr lang="en-US" dirty="0"/>
          </a:p>
          <a:p>
            <a:endParaRPr lang="en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E30D6A-F28C-9FCD-F4D1-10C08E742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535" y="912445"/>
            <a:ext cx="5245827" cy="2732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B27F25-B1AE-C93E-14FC-B9A736F90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073" y="3644760"/>
            <a:ext cx="5047289" cy="262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100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B482E-C45D-2F34-06E2-FF0435F3E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01558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 err="1">
                <a:solidFill>
                  <a:schemeClr val="accent1"/>
                </a:solidFill>
              </a:rPr>
              <a:t>CourseSphere</a:t>
            </a:r>
            <a:r>
              <a:rPr lang="en-US" sz="6600" b="1" dirty="0">
                <a:solidFill>
                  <a:schemeClr val="accent1"/>
                </a:solidFill>
              </a:rPr>
              <a:t>.</a:t>
            </a:r>
            <a:endParaRPr lang="en-AE" sz="6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92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246</Words>
  <Application>Microsoft Office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CourseSphere: Learning Management System</vt:lpstr>
      <vt:lpstr>What is CourseSphere?</vt:lpstr>
      <vt:lpstr>Scope &amp; Key Features</vt:lpstr>
      <vt:lpstr>User Interaction Scenarios</vt:lpstr>
      <vt:lpstr>Technical Implementation </vt:lpstr>
      <vt:lpstr>UX/UI &amp; Challenges</vt:lpstr>
      <vt:lpstr>CourseSphere.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Srivignan Saravanan Sasikala (RIT Student)</dc:creator>
  <cp:lastModifiedBy>Srivignan Saravanan Sasikala (RIT Student)</cp:lastModifiedBy>
  <cp:revision>2</cp:revision>
  <dcterms:created xsi:type="dcterms:W3CDTF">2026-02-05T13:01:55Z</dcterms:created>
  <dcterms:modified xsi:type="dcterms:W3CDTF">2026-02-06T05:35:57Z</dcterms:modified>
</cp:coreProperties>
</file>